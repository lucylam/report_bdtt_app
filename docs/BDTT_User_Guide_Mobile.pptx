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1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8EC4-5FE5-1048-0B87-38C1B2BC4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8EE39-7342-DA9B-26A3-EEC92A1C0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BCE8A-3117-8EAD-D281-F37C0B8F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446A-9D58-E24F-B44C-F8B4C943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0350E-29B2-7168-6B80-EEC90EC3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919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B161-B590-DBE7-32DC-A527DCFA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8B82-920A-C21F-191C-EDB101029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1475-4F51-FA2A-1025-DBF7A83C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B1D01-BF01-1CD0-FE28-6C79CC4B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F1D73-0707-CD70-AA01-DAEDB2DB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42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724A-DAC0-8BF2-8F19-123CCCD8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2FEE3-7E9A-89DC-3B21-304908FA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B284A-2603-A0CD-0D3F-1999A574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D5DFB-520C-6A5C-99E4-492D9EC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185A-BCAE-65D5-0A64-63000B4E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13861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2F17-3789-8675-701B-298F9785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105F0-3FD4-49AE-0608-17692E9F2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CAB15-0321-A35A-0C0B-81297930C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989E0-4EE3-F588-2D30-95C5D04C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27282-40F9-5CC0-ABA8-55C30B15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3C5E-16F9-A40D-4174-5C83D8C6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82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7488-7F4A-5514-56AA-213DE1D4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2562E-3570-8E70-2633-38AD33B71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98E6E-4A3A-F7E5-914E-42B081E1E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E6614-6CA3-A678-D668-F2A277479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0EF6B-AA68-CEBC-E62C-89780BDBF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956DC-F7A5-477D-0BBE-C45EF5DA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62BFC-6442-5909-BF47-93F460BF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584CC-CEA1-2757-FB1E-17E56785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408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0D4A-33A6-AE1D-7A23-C3E86F1D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9F4BB-2358-D704-9664-AADF836D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83DCA-FB07-6B2F-8A0F-566D1402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1066C-16E1-ACEF-425F-70875893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706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0A068-8770-6CAA-8F75-B35F3568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E392D-8046-09A4-26B2-8C8E9D5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C027C-055B-689C-3E24-41B55A3E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420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F9C1-524C-4C2F-C032-0264AC61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9334-BA64-6D45-D0A4-2499510F6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44F9-9AEB-A2FB-7547-0E8558871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A81A0-6384-279C-7826-BBC74918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3530E-8C0E-B975-4EA1-78E36BF8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A8334-201D-3DF2-405F-9AA3FD28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809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93D1-6DA9-A5BD-38F2-ED164FB9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D6573-12CA-2782-5128-418867D49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BFE39-B87C-82EF-AC3F-35913DE59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417B-1735-92D2-CBD2-F07CD145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8D00F-9660-C7BF-AB03-A572AA2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15A1-19EE-0799-7315-597CD240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402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615A-3148-9211-5BD5-BDD0E99F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95E32-8831-31DC-0AE4-72FA214F5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1E6E-8954-1CDE-0486-59EC12C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67A1-854A-E3A4-F6E5-E1F08A8B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F9587-4C81-E95E-8A28-F38F28E8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4795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520301-8970-673C-3933-48175E912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FE4C0-98C6-293A-81E2-A0C0A225E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B64E-1F33-FD35-FAE8-8EE882FE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EE9E8-A7C9-BDF7-E40D-DB729749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72C61-A022-06D4-A6D8-9E175F61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903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97015-F9E9-0747-DC12-DF6E9CC2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40359-D6A6-9F59-1829-58FA21004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C4809-2A40-D7BF-CA23-55323DFBFB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0782-CB38-4557-AD44-96AA767C7DD1}" type="datetimeFigureOut">
              <a:rPr lang="vi-VN" smtClean="0"/>
              <a:t>15/06/2026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BD310-337E-B8EE-5569-8EA3448FD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BBC2-EFC5-9D5A-921B-CBBD93102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EE38E-3353-46F4-BA8D-7EDC95EC45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4579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5CC31C-E1B1-53CB-184E-5620B5F6B8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2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01E333-B865-003F-B11F-362B3AD9B7AC}"/>
              </a:ext>
            </a:extLst>
          </p:cNvPr>
          <p:cNvSpPr/>
          <p:nvPr/>
        </p:nvSpPr>
        <p:spPr>
          <a:xfrm>
            <a:off x="533400" y="482600"/>
            <a:ext cx="6553200" cy="5461000"/>
          </a:xfrm>
          <a:prstGeom prst="roundRect">
            <a:avLst/>
          </a:prstGeom>
          <a:solidFill>
            <a:srgbClr val="1C20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6DB16-4C32-02E2-E5BE-925661888317}"/>
              </a:ext>
            </a:extLst>
          </p:cNvPr>
          <p:cNvSpPr txBox="1"/>
          <p:nvPr/>
        </p:nvSpPr>
        <p:spPr>
          <a:xfrm>
            <a:off x="1041400" y="9652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400" b="1">
                <a:solidFill>
                  <a:srgbClr val="AEEA45"/>
                </a:solidFill>
                <a:latin typeface="Aptos" panose="020B0004020202020204" pitchFamily="34" charset="0"/>
              </a:rPr>
              <a:t>BDTT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953D2-6D6B-B4B8-9B0B-14FFE0CF7848}"/>
              </a:ext>
            </a:extLst>
          </p:cNvPr>
          <p:cNvSpPr txBox="1"/>
          <p:nvPr/>
        </p:nvSpPr>
        <p:spPr>
          <a:xfrm>
            <a:off x="1041400" y="1473200"/>
            <a:ext cx="4953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400" b="1">
                <a:solidFill>
                  <a:srgbClr val="FFFFF8"/>
                </a:solidFill>
                <a:latin typeface="Aptos Display" panose="020B0004020202020204" pitchFamily="34" charset="0"/>
              </a:rPr>
              <a:t>Hướng dẫn sử dụng app báo cáo tiến độ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2D7B4-B789-AC1A-BCF1-4DB6AC73E168}"/>
              </a:ext>
            </a:extLst>
          </p:cNvPr>
          <p:cNvSpPr txBox="1"/>
          <p:nvPr/>
        </p:nvSpPr>
        <p:spPr>
          <a:xfrm>
            <a:off x="1066800" y="3225800"/>
            <a:ext cx="4749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500">
                <a:solidFill>
                  <a:srgbClr val="D7DACD"/>
                </a:solidFill>
                <a:latin typeface="Aptos" panose="020B0004020202020204" pitchFamily="34" charset="0"/>
              </a:rPr>
              <a:t>Dành cho worker, giám sát và admin dữ liệu. Tập trung vào thao tác mobile, cập nhật an toàn và theo dõi dashboard.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5B474F-78F0-C891-63EE-F47B24D1D2F5}"/>
              </a:ext>
            </a:extLst>
          </p:cNvPr>
          <p:cNvSpPr/>
          <p:nvPr/>
        </p:nvSpPr>
        <p:spPr>
          <a:xfrm>
            <a:off x="1041400" y="4572000"/>
            <a:ext cx="1244600" cy="431800"/>
          </a:xfrm>
          <a:prstGeom prst="round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F7225-5B05-113A-9C0F-3218F9443B17}"/>
              </a:ext>
            </a:extLst>
          </p:cNvPr>
          <p:cNvSpPr txBox="1"/>
          <p:nvPr/>
        </p:nvSpPr>
        <p:spPr>
          <a:xfrm>
            <a:off x="1168400" y="4673600"/>
            <a:ext cx="99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121411"/>
                </a:solidFill>
                <a:latin typeface="Aptos" panose="020B0004020202020204" pitchFamily="34" charset="0"/>
              </a:rPr>
              <a:t>Worker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CC1F2A-154F-A852-5484-A52D68AF4A67}"/>
              </a:ext>
            </a:extLst>
          </p:cNvPr>
          <p:cNvSpPr/>
          <p:nvPr/>
        </p:nvSpPr>
        <p:spPr>
          <a:xfrm>
            <a:off x="2489200" y="4572000"/>
            <a:ext cx="1422400" cy="431800"/>
          </a:xfrm>
          <a:prstGeom prst="round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669B4-93E1-169D-B27F-1F19E84C838E}"/>
              </a:ext>
            </a:extLst>
          </p:cNvPr>
          <p:cNvSpPr txBox="1"/>
          <p:nvPr/>
        </p:nvSpPr>
        <p:spPr>
          <a:xfrm>
            <a:off x="2616200" y="46736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121411"/>
                </a:solidFill>
                <a:latin typeface="Aptos" panose="020B0004020202020204" pitchFamily="34" charset="0"/>
              </a:rPr>
              <a:t>Giám sát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295908-0F00-1954-CBB4-8FFBEFE7520B}"/>
              </a:ext>
            </a:extLst>
          </p:cNvPr>
          <p:cNvSpPr/>
          <p:nvPr/>
        </p:nvSpPr>
        <p:spPr>
          <a:xfrm>
            <a:off x="4140200" y="4572000"/>
            <a:ext cx="1651000" cy="431800"/>
          </a:xfrm>
          <a:prstGeom prst="roundRect">
            <a:avLst/>
          </a:prstGeom>
          <a:solidFill>
            <a:srgbClr val="DCE2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2AE5A-07C9-1D66-436B-53BDE3E4EF38}"/>
              </a:ext>
            </a:extLst>
          </p:cNvPr>
          <p:cNvSpPr txBox="1"/>
          <p:nvPr/>
        </p:nvSpPr>
        <p:spPr>
          <a:xfrm>
            <a:off x="4267200" y="467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200" b="1">
                <a:solidFill>
                  <a:srgbClr val="121411"/>
                </a:solidFill>
                <a:latin typeface="Aptos" panose="020B0004020202020204" pitchFamily="34" charset="0"/>
              </a:rPr>
              <a:t>Admin DATA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4F4434-0210-2786-E9B5-8C95FEAE73C0}"/>
              </a:ext>
            </a:extLst>
          </p:cNvPr>
          <p:cNvSpPr/>
          <p:nvPr/>
        </p:nvSpPr>
        <p:spPr>
          <a:xfrm>
            <a:off x="7683500" y="673100"/>
            <a:ext cx="2298339" cy="4826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3B7D76-4534-FBD4-3070-766D6D010F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0" y="736600"/>
            <a:ext cx="2171339" cy="4699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930C6B-8166-B7C8-CF10-4F8F55A2D012}"/>
              </a:ext>
            </a:extLst>
          </p:cNvPr>
          <p:cNvSpPr txBox="1"/>
          <p:nvPr/>
        </p:nvSpPr>
        <p:spPr>
          <a:xfrm>
            <a:off x="7594600" y="5562600"/>
            <a:ext cx="2476139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dirty="0">
                <a:solidFill>
                  <a:srgbClr val="74746C"/>
                </a:solidFill>
                <a:latin typeface="Aptos" panose="020B0004020202020204" pitchFamily="34" charset="0"/>
              </a:rPr>
              <a:t>Màn hình mobile thực tế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2B7C4D-DBEA-36B3-808D-15C1C556655C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5D6FB6-F233-1F42-F10B-416579F69DEB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628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C0BE9-C01B-D528-80F6-35EA52F91D69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TỔNG QUAN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E9ADC5-FA17-1119-5CBB-87556E1BE8B2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App dùng để làm gì?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581F2-B894-A11F-9406-F0E33F752CD5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Luồng dữ liệu được thiết kế để giảm nhầm lẫn khi cập nhật tiến độ trong ca.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FD69DB-9B30-9E44-8E88-346C0176546E}"/>
              </a:ext>
            </a:extLst>
          </p:cNvPr>
          <p:cNvSpPr/>
          <p:nvPr/>
        </p:nvSpPr>
        <p:spPr>
          <a:xfrm>
            <a:off x="762000" y="2006600"/>
            <a:ext cx="3111500" cy="215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2ACCF-D3FC-B527-F6DB-C6589F4F4895}"/>
              </a:ext>
            </a:extLst>
          </p:cNvPr>
          <p:cNvSpPr/>
          <p:nvPr/>
        </p:nvSpPr>
        <p:spPr>
          <a:xfrm>
            <a:off x="762000" y="2006600"/>
            <a:ext cx="101600" cy="21590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1C76F-8B13-A65B-6DA2-1306E0148F36}"/>
              </a:ext>
            </a:extLst>
          </p:cNvPr>
          <p:cNvSpPr txBox="1"/>
          <p:nvPr/>
        </p:nvSpPr>
        <p:spPr>
          <a:xfrm>
            <a:off x="1016000" y="2235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Worker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49E38-D79F-D307-71F0-6622B2132E80}"/>
              </a:ext>
            </a:extLst>
          </p:cNvPr>
          <p:cNvSpPr txBox="1"/>
          <p:nvPr/>
        </p:nvSpPr>
        <p:spPr>
          <a:xfrm>
            <a:off x="1016000" y="2616200"/>
            <a:ext cx="260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Nhận danh sách hạng mục được giao, lọc nhanh theo tag/WO/khu vực, chỉnh tiến độ và ghi chú. Thay đổi chỉ gửi khi bấm Cập nhật.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E988B3-4E2B-30F3-695B-70F05124D633}"/>
              </a:ext>
            </a:extLst>
          </p:cNvPr>
          <p:cNvSpPr/>
          <p:nvPr/>
        </p:nvSpPr>
        <p:spPr>
          <a:xfrm>
            <a:off x="4546600" y="2006600"/>
            <a:ext cx="3111500" cy="215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7AEC7-C19C-AC7A-F032-46FDBF50B3B2}"/>
              </a:ext>
            </a:extLst>
          </p:cNvPr>
          <p:cNvSpPr/>
          <p:nvPr/>
        </p:nvSpPr>
        <p:spPr>
          <a:xfrm>
            <a:off x="4546600" y="2006600"/>
            <a:ext cx="101600" cy="21590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00EC63-CCF9-2030-A615-8543C72D1F5E}"/>
              </a:ext>
            </a:extLst>
          </p:cNvPr>
          <p:cNvSpPr txBox="1"/>
          <p:nvPr/>
        </p:nvSpPr>
        <p:spPr>
          <a:xfrm>
            <a:off x="4800600" y="2235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Giám sát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ABD99-5843-9DD0-C7F9-4B0910829C81}"/>
              </a:ext>
            </a:extLst>
          </p:cNvPr>
          <p:cNvSpPr txBox="1"/>
          <p:nvPr/>
        </p:nvSpPr>
        <p:spPr>
          <a:xfrm>
            <a:off x="4800600" y="2616200"/>
            <a:ext cx="260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Theo dõi KPI trong ngày, phát hiện nhóm cần tăng cường, kiểm tra WorkOrder trễ và xem tình trạng cập nhật của worker.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C809EF-AD83-F5AD-C00A-5397E8A62997}"/>
              </a:ext>
            </a:extLst>
          </p:cNvPr>
          <p:cNvSpPr/>
          <p:nvPr/>
        </p:nvSpPr>
        <p:spPr>
          <a:xfrm>
            <a:off x="8318500" y="2006600"/>
            <a:ext cx="3111500" cy="215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BFA42E-A122-4FCF-16BA-F6C10A628B4E}"/>
              </a:ext>
            </a:extLst>
          </p:cNvPr>
          <p:cNvSpPr/>
          <p:nvPr/>
        </p:nvSpPr>
        <p:spPr>
          <a:xfrm>
            <a:off x="8318500" y="2006600"/>
            <a:ext cx="101600" cy="21590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339D3-CC50-5B36-0039-06772A75D374}"/>
              </a:ext>
            </a:extLst>
          </p:cNvPr>
          <p:cNvSpPr txBox="1"/>
          <p:nvPr/>
        </p:nvSpPr>
        <p:spPr>
          <a:xfrm>
            <a:off x="8572500" y="2235200"/>
            <a:ext cx="2603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Admin /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2DB530-CB25-A4DE-8796-EAFB8D083A4D}"/>
              </a:ext>
            </a:extLst>
          </p:cNvPr>
          <p:cNvSpPr txBox="1"/>
          <p:nvPr/>
        </p:nvSpPr>
        <p:spPr>
          <a:xfrm>
            <a:off x="8572500" y="2616200"/>
            <a:ext cx="26035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Import danh sách hạng mục, kiểm tra nhân sự, export/sync dữ liệu phục vụ tổng hợp báo cáo.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BB4B0B-B8C0-44D8-C263-0BEFCF71A188}"/>
              </a:ext>
            </a:extLst>
          </p:cNvPr>
          <p:cNvSpPr txBox="1"/>
          <p:nvPr/>
        </p:nvSpPr>
        <p:spPr>
          <a:xfrm>
            <a:off x="1193800" y="4927600"/>
            <a:ext cx="977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121411"/>
                </a:solidFill>
                <a:latin typeface="Aptos" panose="020B0004020202020204" pitchFamily="34" charset="0"/>
              </a:rPr>
              <a:t>Worker cập nhật -&gt; Chờ cập nhật -&gt; Cập nhật -&gt; Database/local queue -&gt; Dashboard giám sát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1FFB98-C56B-8B63-68FA-51E85EB3BF2F}"/>
              </a:ext>
            </a:extLst>
          </p:cNvPr>
          <p:cNvSpPr txBox="1"/>
          <p:nvPr/>
        </p:nvSpPr>
        <p:spPr>
          <a:xfrm>
            <a:off x="1524000" y="5435600"/>
            <a:ext cx="9144000" cy="7797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Không lưu ngay khi chạm nhầm vào % tiến độ.</a:t>
            </a:r>
          </a:p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Có thể hủy thay đổi trước khi gửi.</a:t>
            </a:r>
          </a:p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Dashboard chỉ nên được xem là dữ liệu chính thức sau khi worker bấm Cập nhật.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84CB4-3FD3-71C1-5567-986548B3D95D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78420-B8D3-EBBA-ABF2-C61008E5F090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37115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7C1051-7238-1549-8709-0DED2B7F012D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BẮT ĐẦU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6529C-1B7D-237C-E4BD-DDA310C18905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Đăng nhập và đổi mật khẩu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AB78C-363B-1071-7C3D-F6FACC69588E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Tài khoản nội bộ được cấp theo username. Nếu là lần đầu, app sẽ yêu cầu đổi mật khẩu riêng.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75E76A-6794-2370-F17D-899D2CAD2BE6}"/>
              </a:ext>
            </a:extLst>
          </p:cNvPr>
          <p:cNvSpPr/>
          <p:nvPr/>
        </p:nvSpPr>
        <p:spPr>
          <a:xfrm>
            <a:off x="762000" y="1981200"/>
            <a:ext cx="3302000" cy="3238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F9CA4D-34FE-C9D2-6391-2D310E468D43}"/>
              </a:ext>
            </a:extLst>
          </p:cNvPr>
          <p:cNvSpPr/>
          <p:nvPr/>
        </p:nvSpPr>
        <p:spPr>
          <a:xfrm>
            <a:off x="762000" y="1981200"/>
            <a:ext cx="101600" cy="32385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A69FA-9C03-5EDD-34DC-BE6D5F26EFD2}"/>
              </a:ext>
            </a:extLst>
          </p:cNvPr>
          <p:cNvSpPr txBox="1"/>
          <p:nvPr/>
        </p:nvSpPr>
        <p:spPr>
          <a:xfrm>
            <a:off x="1016000" y="2209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1. Đăng nhập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30E23-8B39-4F25-7166-0007299C14C4}"/>
              </a:ext>
            </a:extLst>
          </p:cNvPr>
          <p:cNvSpPr txBox="1"/>
          <p:nvPr/>
        </p:nvSpPr>
        <p:spPr>
          <a:xfrm>
            <a:off x="1016000" y="2590800"/>
            <a:ext cx="2794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Nhập username và mật khẩu được cấp. Bật ghi nhớ đăng nhập nếu dùng thiết bị cá nhân hoặc thiết bị ca trực ổn định.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1A06DA-30A1-7FCD-BFC1-21AC8B4F38F8}"/>
              </a:ext>
            </a:extLst>
          </p:cNvPr>
          <p:cNvSpPr/>
          <p:nvPr/>
        </p:nvSpPr>
        <p:spPr>
          <a:xfrm>
            <a:off x="4445000" y="1981200"/>
            <a:ext cx="3302000" cy="3238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6E1EC-8AF4-0D3A-EB2A-947C25186477}"/>
              </a:ext>
            </a:extLst>
          </p:cNvPr>
          <p:cNvSpPr/>
          <p:nvPr/>
        </p:nvSpPr>
        <p:spPr>
          <a:xfrm>
            <a:off x="4445000" y="1981200"/>
            <a:ext cx="101600" cy="32385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D3D98-D040-7304-42B4-1F5785313A89}"/>
              </a:ext>
            </a:extLst>
          </p:cNvPr>
          <p:cNvSpPr txBox="1"/>
          <p:nvPr/>
        </p:nvSpPr>
        <p:spPr>
          <a:xfrm>
            <a:off x="4699000" y="2209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2. Đổi mật khẩu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D33650-AB8A-FCB4-4CA4-FBB17CCB2902}"/>
              </a:ext>
            </a:extLst>
          </p:cNvPr>
          <p:cNvSpPr txBox="1"/>
          <p:nvPr/>
        </p:nvSpPr>
        <p:spPr>
          <a:xfrm>
            <a:off x="4699000" y="2590800"/>
            <a:ext cx="2794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Mật khẩu mới phải khác mật khẩu mặc định và đủ độ dài. Nếu nhập lại mật khẩu mặc định, app chỉ cảnh báo và không cho đổi.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1C29E8-F76B-90CB-4E14-9563067EA74A}"/>
              </a:ext>
            </a:extLst>
          </p:cNvPr>
          <p:cNvSpPr/>
          <p:nvPr/>
        </p:nvSpPr>
        <p:spPr>
          <a:xfrm>
            <a:off x="8128000" y="1981200"/>
            <a:ext cx="3302000" cy="3238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42B4A5-4DAB-D079-3480-0A00581D5D2F}"/>
              </a:ext>
            </a:extLst>
          </p:cNvPr>
          <p:cNvSpPr/>
          <p:nvPr/>
        </p:nvSpPr>
        <p:spPr>
          <a:xfrm>
            <a:off x="8128000" y="1981200"/>
            <a:ext cx="101600" cy="32385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7B37F-D532-2662-98AF-8717EE42BBDB}"/>
              </a:ext>
            </a:extLst>
          </p:cNvPr>
          <p:cNvSpPr txBox="1"/>
          <p:nvPr/>
        </p:nvSpPr>
        <p:spPr>
          <a:xfrm>
            <a:off x="8382000" y="2209800"/>
            <a:ext cx="279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121411"/>
                </a:solidFill>
                <a:latin typeface="Aptos" panose="020B0004020202020204" pitchFamily="34" charset="0"/>
              </a:rPr>
              <a:t>3. Vào đúng vai trò</a:t>
            </a:r>
            <a:endParaRPr lang="vi-VN" sz="1600" b="1">
              <a:solidFill>
                <a:srgbClr val="12141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146608-6789-94BB-8B8F-339D6C49EC86}"/>
              </a:ext>
            </a:extLst>
          </p:cNvPr>
          <p:cNvSpPr txBox="1"/>
          <p:nvPr/>
        </p:nvSpPr>
        <p:spPr>
          <a:xfrm>
            <a:off x="8382000" y="2590800"/>
            <a:ext cx="2794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Worker vào Workspace. Giám sát/admin có thêm Giám sát, WorkOrder, Nhân sự và DATA tùy quyền tài khoản.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135BA-AB3B-4C45-5ABB-5885BB3B21C7}"/>
              </a:ext>
            </a:extLst>
          </p:cNvPr>
          <p:cNvSpPr txBox="1"/>
          <p:nvPr/>
        </p:nvSpPr>
        <p:spPr>
          <a:xfrm>
            <a:off x="1016000" y="5562600"/>
            <a:ext cx="9906000" cy="7797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Không chia sẻ tài khoản vì lịch sử cập nhật gắn với từng user.</a:t>
            </a:r>
          </a:p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Khi đổi thiết bị, nên đăng xuất ở thiết bị cũ.</a:t>
            </a:r>
          </a:p>
          <a:p>
            <a:pPr>
              <a:spcAft>
                <a:spcPts val="700"/>
              </a:spcAft>
            </a:pPr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- Nếu mất quyền hoặc không thấy việc, liên hệ nhóm trưởng/admin dữ liệu.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6E8AB2-D6E5-40E6-0994-F2343C0E79F3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63D3A9-2683-2983-00C9-16028C5EF6BD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403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2E11C-267D-456C-12C2-E703AC71A4D6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WORKER MOBILE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30E58-2192-110A-1292-74C9DBAB20BE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Màn hình Việc của tôi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50D35-3323-939E-42ED-4B21107AC94D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Đây là màn hình worker dùng nhiều nhất trong ca.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DDB4D7-4E00-213C-6DB2-075743194387}"/>
              </a:ext>
            </a:extLst>
          </p:cNvPr>
          <p:cNvSpPr/>
          <p:nvPr/>
        </p:nvSpPr>
        <p:spPr>
          <a:xfrm>
            <a:off x="825500" y="1714500"/>
            <a:ext cx="2063600" cy="4318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EB9CB-3D09-9F73-9378-3337460769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778000"/>
            <a:ext cx="19366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501387-C4AE-1AA7-4C3D-C987B61586C7}"/>
              </a:ext>
            </a:extLst>
          </p:cNvPr>
          <p:cNvSpPr txBox="1"/>
          <p:nvPr/>
        </p:nvSpPr>
        <p:spPr>
          <a:xfrm>
            <a:off x="736600" y="6096000"/>
            <a:ext cx="2241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Danh sách việc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425DA19-E334-1A44-EC4D-AFE6B2F96E63}"/>
              </a:ext>
            </a:extLst>
          </p:cNvPr>
          <p:cNvSpPr/>
          <p:nvPr/>
        </p:nvSpPr>
        <p:spPr>
          <a:xfrm>
            <a:off x="3632200" y="1930400"/>
            <a:ext cx="7620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84788-BC12-5DE9-630E-2E4AD7C80364}"/>
              </a:ext>
            </a:extLst>
          </p:cNvPr>
          <p:cNvSpPr/>
          <p:nvPr/>
        </p:nvSpPr>
        <p:spPr>
          <a:xfrm>
            <a:off x="3632200" y="1930400"/>
            <a:ext cx="101600" cy="10922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9383C-1579-2E17-4597-62B8A82608A4}"/>
              </a:ext>
            </a:extLst>
          </p:cNvPr>
          <p:cNvSpPr txBox="1"/>
          <p:nvPr/>
        </p:nvSpPr>
        <p:spPr>
          <a:xfrm>
            <a:off x="3886200" y="2159000"/>
            <a:ext cx="711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Khu vực đầu trang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A64B9-B529-1DBD-EE32-3AC06D8B7CD0}"/>
              </a:ext>
            </a:extLst>
          </p:cNvPr>
          <p:cNvSpPr txBox="1"/>
          <p:nvPr/>
        </p:nvSpPr>
        <p:spPr>
          <a:xfrm>
            <a:off x="3886200" y="2540000"/>
            <a:ext cx="711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Hiển thị tên user, ngày báo cáo, % tiến độ cá nhân, trạng thái online/offline, nút đổi theme và tài khoản.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C9820A-88E7-5A21-80F2-643207D858A1}"/>
              </a:ext>
            </a:extLst>
          </p:cNvPr>
          <p:cNvSpPr/>
          <p:nvPr/>
        </p:nvSpPr>
        <p:spPr>
          <a:xfrm>
            <a:off x="3632200" y="3302000"/>
            <a:ext cx="7620000" cy="11176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0DEF7-A744-A611-C500-793FDB8B57D5}"/>
              </a:ext>
            </a:extLst>
          </p:cNvPr>
          <p:cNvSpPr/>
          <p:nvPr/>
        </p:nvSpPr>
        <p:spPr>
          <a:xfrm>
            <a:off x="3632200" y="3302000"/>
            <a:ext cx="101600" cy="11176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9C8A0F-B75E-CE5D-28CE-6A2DF04D8897}"/>
              </a:ext>
            </a:extLst>
          </p:cNvPr>
          <p:cNvSpPr txBox="1"/>
          <p:nvPr/>
        </p:nvSpPr>
        <p:spPr>
          <a:xfrm>
            <a:off x="3886200" y="3530600"/>
            <a:ext cx="711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Bộ lọc nhanh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3D34C2-9F16-2EDC-4C90-B5EEC90DAA17}"/>
              </a:ext>
            </a:extLst>
          </p:cNvPr>
          <p:cNvSpPr txBox="1"/>
          <p:nvPr/>
        </p:nvSpPr>
        <p:spPr>
          <a:xfrm>
            <a:off x="3886200" y="3911600"/>
            <a:ext cx="711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Dùng các tab Tất cả, Chưa làm, Đang làm, Xong, PI chưa xong và Hủy để thu hẹp danh sách hạng mục.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5CD993-F85C-7B92-75AF-78C2DEF6EEF9}"/>
              </a:ext>
            </a:extLst>
          </p:cNvPr>
          <p:cNvSpPr/>
          <p:nvPr/>
        </p:nvSpPr>
        <p:spPr>
          <a:xfrm>
            <a:off x="3632200" y="4699000"/>
            <a:ext cx="7620000" cy="11176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B89709-9706-2637-539A-BAAE3D554F6C}"/>
              </a:ext>
            </a:extLst>
          </p:cNvPr>
          <p:cNvSpPr/>
          <p:nvPr/>
        </p:nvSpPr>
        <p:spPr>
          <a:xfrm>
            <a:off x="3632200" y="4699000"/>
            <a:ext cx="101600" cy="11176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063349-9BFB-7E65-6C8B-B71C0AEF1025}"/>
              </a:ext>
            </a:extLst>
          </p:cNvPr>
          <p:cNvSpPr txBox="1"/>
          <p:nvPr/>
        </p:nvSpPr>
        <p:spPr>
          <a:xfrm>
            <a:off x="3886200" y="4927600"/>
            <a:ext cx="711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Danh sách 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AAD86-B796-161A-4F54-B7F90948FB5B}"/>
              </a:ext>
            </a:extLst>
          </p:cNvPr>
          <p:cNvSpPr txBox="1"/>
          <p:nvPr/>
        </p:nvSpPr>
        <p:spPr>
          <a:xfrm>
            <a:off x="3886200" y="5308600"/>
            <a:ext cx="711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Mỗi card có tagname, mô tả hạng mục, mức ưu tiên, đơn vị, duration, thanh tiến độ và bộ chọn %.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B27C67-BAB4-F519-E27D-4717DC5AB9D6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2D8239-CFA2-724D-6FC0-08D5E0ED273F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4557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FDD5A-EB2F-2020-0D2C-EDBBD9E3EBEA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TÌM KIẾM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BD94D-CD14-9DC2-6D32-BD8A51515AB7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Tìm đúng hạng mục trước khi cập nhật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3EC9F-67E9-6AD2-D2C9-CD567045848D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Tìm kiếm vẫn match theo tagname, WO, hạng mục, khu vực và thông tin liên quan.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EB5F0-16A6-45E5-95B3-C18026C2E2AC}"/>
              </a:ext>
            </a:extLst>
          </p:cNvPr>
          <p:cNvSpPr txBox="1"/>
          <p:nvPr/>
        </p:nvSpPr>
        <p:spPr>
          <a:xfrm>
            <a:off x="889000" y="1930400"/>
            <a:ext cx="5334000" cy="2082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Gõ tagname như 41PT-1007 để tìm nhanh thiết bị.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Gõ số WO nếu đang làm theo WorkOrder.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Gõ khu vực/section khi cần lọc nhiều thiết bị cùng khu.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Chọn Theo đơn vị hoặc Theo section để đổi cách nhóm danh sách.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Nếu danh sách trống, xóa từ khóa hoặc chuyển filter về Tất cả.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928F73-87D9-227A-FD47-9BED7BDAB94E}"/>
              </a:ext>
            </a:extLst>
          </p:cNvPr>
          <p:cNvSpPr/>
          <p:nvPr/>
        </p:nvSpPr>
        <p:spPr>
          <a:xfrm>
            <a:off x="889000" y="4927600"/>
            <a:ext cx="5334000" cy="88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D2462-4FDF-55D4-985A-317AC967CEE0}"/>
              </a:ext>
            </a:extLst>
          </p:cNvPr>
          <p:cNvSpPr/>
          <p:nvPr/>
        </p:nvSpPr>
        <p:spPr>
          <a:xfrm>
            <a:off x="889000" y="4927600"/>
            <a:ext cx="101600" cy="889000"/>
          </a:xfrm>
          <a:prstGeom prst="rect">
            <a:avLst/>
          </a:prstGeom>
          <a:solidFill>
            <a:srgbClr val="E25B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EA635-8F04-E0ED-61EF-24CF20599EDB}"/>
              </a:ext>
            </a:extLst>
          </p:cNvPr>
          <p:cNvSpPr txBox="1"/>
          <p:nvPr/>
        </p:nvSpPr>
        <p:spPr>
          <a:xfrm>
            <a:off x="1143000" y="5156200"/>
            <a:ext cx="482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Quy tắc thao tác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87D50-FA3F-36D4-7442-4AC656B3E396}"/>
              </a:ext>
            </a:extLst>
          </p:cNvPr>
          <p:cNvSpPr txBox="1"/>
          <p:nvPr/>
        </p:nvSpPr>
        <p:spPr>
          <a:xfrm>
            <a:off x="1143000" y="5537200"/>
            <a:ext cx="4826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Chỉ cập nhật khi đã chắc chắn đúng tagname/WO. Nếu nghi ngờ bị giao thiếu việc, không tự nhập dữ liệu ngoài danh sách.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04146-AB72-C0CA-8D83-27ECBC9B7A39}"/>
              </a:ext>
            </a:extLst>
          </p:cNvPr>
          <p:cNvSpPr/>
          <p:nvPr/>
        </p:nvSpPr>
        <p:spPr>
          <a:xfrm>
            <a:off x="7962900" y="1511300"/>
            <a:ext cx="2180969" cy="4572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BF80F9-A596-F17D-2596-421248F816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1574800"/>
            <a:ext cx="2053969" cy="444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0A95BF-37A7-F71C-BDE1-E124EA130E4A}"/>
              </a:ext>
            </a:extLst>
          </p:cNvPr>
          <p:cNvSpPr txBox="1"/>
          <p:nvPr/>
        </p:nvSpPr>
        <p:spPr>
          <a:xfrm>
            <a:off x="7874000" y="6146800"/>
            <a:ext cx="2358769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Search và filter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46BEB1-B704-48D1-68B7-0E06544E74E0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57865-A4CA-B96F-B415-C7003AA2A0AA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074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96575-0A66-7427-7685-8BE3684B5881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CẬP NHẬT TIẾN ĐỘ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A225C-554A-58B6-426A-FA488ABDB554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Chỉnh nhiều task, rồi bấm Cập nhật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E097F-5DC9-5BE1-07A9-6D14C3D91AD6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Flow mới giúp tránh việc chạm nhầm làm thay đổi database ngay lập tức.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CC7FB2-C87D-39C8-7A02-B024BB98F3B2}"/>
              </a:ext>
            </a:extLst>
          </p:cNvPr>
          <p:cNvSpPr/>
          <p:nvPr/>
        </p:nvSpPr>
        <p:spPr>
          <a:xfrm>
            <a:off x="698500" y="1536700"/>
            <a:ext cx="2180969" cy="4572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CC216-FAC7-C815-37EF-FA16A6FF17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2053969" cy="444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263846-21C2-D3CC-9E95-652C38C163B6}"/>
              </a:ext>
            </a:extLst>
          </p:cNvPr>
          <p:cNvSpPr txBox="1"/>
          <p:nvPr/>
        </p:nvSpPr>
        <p:spPr>
          <a:xfrm>
            <a:off x="609600" y="6172200"/>
            <a:ext cx="2358769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Trạng thái chờ cập nhật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4D26C-58EE-F0D2-D12B-476C9C48D6F0}"/>
              </a:ext>
            </a:extLst>
          </p:cNvPr>
          <p:cNvSpPr txBox="1"/>
          <p:nvPr/>
        </p:nvSpPr>
        <p:spPr>
          <a:xfrm>
            <a:off x="3810000" y="1955800"/>
            <a:ext cx="7112000" cy="15901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Chọn % tiến độ trên một hoặc nhiều task.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Task vừa chỉnh sẽ có trạng thái Chờ cập nhật.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Thanh cuối màn hình hiển thị số thay đổi đang chờ gửi.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Bấm Hủy thay đổi nếu thao tác nhầm.</a:t>
            </a:r>
          </a:p>
          <a:p>
            <a:pPr>
              <a:spcAft>
                <a:spcPts val="700"/>
              </a:spcAft>
            </a:pPr>
            <a:r>
              <a:rPr lang="vi-VN" sz="1600">
                <a:solidFill>
                  <a:srgbClr val="74746C"/>
                </a:solidFill>
                <a:latin typeface="Aptos" panose="020B0004020202020204" pitchFamily="34" charset="0"/>
              </a:rPr>
              <a:t>- Bấm Cập nhật khi đã kiểm tra xong. Lúc đó dữ liệu mới được ghi chính thức.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30AF9E-E4FD-BA45-258E-01A415328A29}"/>
              </a:ext>
            </a:extLst>
          </p:cNvPr>
          <p:cNvSpPr/>
          <p:nvPr/>
        </p:nvSpPr>
        <p:spPr>
          <a:xfrm>
            <a:off x="3810000" y="4800600"/>
            <a:ext cx="7112000" cy="88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35043-E5AE-B7EE-7FF5-A480756BFBA4}"/>
              </a:ext>
            </a:extLst>
          </p:cNvPr>
          <p:cNvSpPr/>
          <p:nvPr/>
        </p:nvSpPr>
        <p:spPr>
          <a:xfrm>
            <a:off x="3810000" y="4800600"/>
            <a:ext cx="101600" cy="8890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B4C74-506A-40C6-BBB6-B064BBBE395C}"/>
              </a:ext>
            </a:extLst>
          </p:cNvPr>
          <p:cNvSpPr txBox="1"/>
          <p:nvPr/>
        </p:nvSpPr>
        <p:spPr>
          <a:xfrm>
            <a:off x="4064000" y="50292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Lưu ý quan trọng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01639-79E6-148F-DECA-636524600101}"/>
              </a:ext>
            </a:extLst>
          </p:cNvPr>
          <p:cNvSpPr txBox="1"/>
          <p:nvPr/>
        </p:nvSpPr>
        <p:spPr>
          <a:xfrm>
            <a:off x="4064000" y="5410200"/>
            <a:ext cx="660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Dashboard giám sát và lịch sử chính thức chỉ phản ánh dữ liệu đã được Cập nhật, không lấy các thay đổi còn đang chờ.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ADEB5-CAF9-4959-CF04-18C0B2DABC55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AC4D6-593F-8B6B-6635-F632F3E54401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213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53452-C7F1-3A8E-EA8E-12244830B07A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GHI CHÚ / ẢNH / HỦY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ED1D2-0444-1BC9-C28B-1B2BD41C9AD8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Khi nào cần nhập thêm thông tin?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F413E-7F4D-8D65-CFFE-1B608BD78F40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Dùng ghi chú ngắn, rõ hiện trạng. Ảnh chỉ nên thêm khi cần chứng minh tình trạng thực tế.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AC992C-4CC7-7A92-09A4-4A573C2B71C3}"/>
              </a:ext>
            </a:extLst>
          </p:cNvPr>
          <p:cNvSpPr/>
          <p:nvPr/>
        </p:nvSpPr>
        <p:spPr>
          <a:xfrm>
            <a:off x="889000" y="1905000"/>
            <a:ext cx="3175000" cy="2667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71F43-6170-6302-750A-57EC10D4DC30}"/>
              </a:ext>
            </a:extLst>
          </p:cNvPr>
          <p:cNvSpPr/>
          <p:nvPr/>
        </p:nvSpPr>
        <p:spPr>
          <a:xfrm>
            <a:off x="889000" y="1905000"/>
            <a:ext cx="101600" cy="26670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EA73B-71A9-2956-A906-AB599CE066C9}"/>
              </a:ext>
            </a:extLst>
          </p:cNvPr>
          <p:cNvSpPr txBox="1"/>
          <p:nvPr/>
        </p:nvSpPr>
        <p:spPr>
          <a:xfrm>
            <a:off x="11430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Ghi chú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53E2B3-81EC-2DDF-FC0B-1F211DD54161}"/>
              </a:ext>
            </a:extLst>
          </p:cNvPr>
          <p:cNvSpPr txBox="1"/>
          <p:nvPr/>
        </p:nvSpPr>
        <p:spPr>
          <a:xfrm>
            <a:off x="1143000" y="2514600"/>
            <a:ext cx="266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Bấm Mở ghi chú / ảnh, nhập nội dung ngắn: đang kiểm tra, thiếu vật tư, chờ cô lập, phát sinh trở ngại...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086CAD-9712-22BE-0BA7-EC7A45F31470}"/>
              </a:ext>
            </a:extLst>
          </p:cNvPr>
          <p:cNvSpPr/>
          <p:nvPr/>
        </p:nvSpPr>
        <p:spPr>
          <a:xfrm>
            <a:off x="4521200" y="1905000"/>
            <a:ext cx="3175000" cy="2667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83982E-7B44-9512-B8B5-23C719E4C1D6}"/>
              </a:ext>
            </a:extLst>
          </p:cNvPr>
          <p:cNvSpPr/>
          <p:nvPr/>
        </p:nvSpPr>
        <p:spPr>
          <a:xfrm>
            <a:off x="4521200" y="1905000"/>
            <a:ext cx="101600" cy="26670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53048-116A-B0CF-5895-7A26FCD03623}"/>
              </a:ext>
            </a:extLst>
          </p:cNvPr>
          <p:cNvSpPr txBox="1"/>
          <p:nvPr/>
        </p:nvSpPr>
        <p:spPr>
          <a:xfrm>
            <a:off x="47752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Ảnh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83E98E-10C5-0858-2819-6DA37F12BA65}"/>
              </a:ext>
            </a:extLst>
          </p:cNvPr>
          <p:cNvSpPr txBox="1"/>
          <p:nvPr/>
        </p:nvSpPr>
        <p:spPr>
          <a:xfrm>
            <a:off x="4775200" y="2514600"/>
            <a:ext cx="266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Đính kèm ảnh khi cần xác nhận hiện trường. Ảnh nên rõ tag, thiết bị hoặc vị trí liên quan.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6539EB-D1DE-2B9F-9395-1B06B8C95A0D}"/>
              </a:ext>
            </a:extLst>
          </p:cNvPr>
          <p:cNvSpPr/>
          <p:nvPr/>
        </p:nvSpPr>
        <p:spPr>
          <a:xfrm>
            <a:off x="8153400" y="1905000"/>
            <a:ext cx="3175000" cy="2667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BE752B-3341-A895-EB57-9BD8D044A7CB}"/>
              </a:ext>
            </a:extLst>
          </p:cNvPr>
          <p:cNvSpPr/>
          <p:nvPr/>
        </p:nvSpPr>
        <p:spPr>
          <a:xfrm>
            <a:off x="8153400" y="1905000"/>
            <a:ext cx="101600" cy="2667000"/>
          </a:xfrm>
          <a:prstGeom prst="rect">
            <a:avLst/>
          </a:prstGeom>
          <a:solidFill>
            <a:srgbClr val="E25B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EF2E2-F2F0-5484-CE68-EFA146261534}"/>
              </a:ext>
            </a:extLst>
          </p:cNvPr>
          <p:cNvSpPr txBox="1"/>
          <p:nvPr/>
        </p:nvSpPr>
        <p:spPr>
          <a:xfrm>
            <a:off x="84074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Hủy hạng mục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989E5-5280-B771-46EB-07E35AF38177}"/>
              </a:ext>
            </a:extLst>
          </p:cNvPr>
          <p:cNvSpPr txBox="1"/>
          <p:nvPr/>
        </p:nvSpPr>
        <p:spPr>
          <a:xfrm>
            <a:off x="8407400" y="2514600"/>
            <a:ext cx="2667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Chỉ dùng khi hạng mục không thực hiện trong ca hoặc có chỉ đạo hủy. Luôn nhập lý do để admin/giám sát kiểm tra.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94F677-6E0B-8533-6B22-7E9F4714452C}"/>
              </a:ext>
            </a:extLst>
          </p:cNvPr>
          <p:cNvSpPr txBox="1"/>
          <p:nvPr/>
        </p:nvSpPr>
        <p:spPr>
          <a:xfrm>
            <a:off x="1092200" y="5156200"/>
            <a:ext cx="9906000" cy="8258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400">
                <a:solidFill>
                  <a:srgbClr val="74746C"/>
                </a:solidFill>
                <a:latin typeface="Aptos" panose="020B0004020202020204" pitchFamily="34" charset="0"/>
              </a:rPr>
              <a:t>- Không ghi dữ liệu nhạy cảm ngoài phạm vi báo cáo tiến độ.</a:t>
            </a:r>
          </a:p>
          <a:p>
            <a:pPr>
              <a:spcAft>
                <a:spcPts val="700"/>
              </a:spcAft>
            </a:pPr>
            <a:r>
              <a:rPr lang="vi-VN" sz="1400">
                <a:solidFill>
                  <a:srgbClr val="74746C"/>
                </a:solidFill>
                <a:latin typeface="Aptos" panose="020B0004020202020204" pitchFamily="34" charset="0"/>
              </a:rPr>
              <a:t>- Không dùng ghi chú để thay thế quy trình bàn giao/an toàn.</a:t>
            </a:r>
          </a:p>
          <a:p>
            <a:pPr>
              <a:spcAft>
                <a:spcPts val="700"/>
              </a:spcAft>
            </a:pPr>
            <a:r>
              <a:rPr lang="vi-VN" sz="1400">
                <a:solidFill>
                  <a:srgbClr val="74746C"/>
                </a:solidFill>
                <a:latin typeface="Aptos" panose="020B0004020202020204" pitchFamily="34" charset="0"/>
              </a:rPr>
              <a:t>- Sau khi nhập ghi chú/ảnh, vẫn phải bấm Cập nhật để gửi.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52D405-0001-19B4-AA26-3330DAF62E41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EE26A-8080-9CD9-0989-C89DF1E72973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4210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9F986-6A4F-F8BF-834E-A647C97F385C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THEO DÕI CÁ NHÂN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6CE2F-006C-8E05-53A1-288BA4D73D2A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Tổng quan và Lịch sử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CE30C-20E3-63B1-D8FE-50737890656F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Hai tab này giúp worker tự kiểm tra tiến độ đã gửi và các lần cập nhật trong ngày.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C325A7-B4C1-D364-5FE2-E1B9131C5FC5}"/>
              </a:ext>
            </a:extLst>
          </p:cNvPr>
          <p:cNvSpPr/>
          <p:nvPr/>
        </p:nvSpPr>
        <p:spPr>
          <a:xfrm>
            <a:off x="952500" y="1562100"/>
            <a:ext cx="2063600" cy="4318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BC119-952B-62C1-5736-984F65DED2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25600"/>
            <a:ext cx="1936600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CA9F6-0EDD-8650-E335-F83FE9C9917E}"/>
              </a:ext>
            </a:extLst>
          </p:cNvPr>
          <p:cNvSpPr txBox="1"/>
          <p:nvPr/>
        </p:nvSpPr>
        <p:spPr>
          <a:xfrm>
            <a:off x="863600" y="5943600"/>
            <a:ext cx="2241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Tổng quan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A8A0AE-927E-6ACB-7312-5661DFB4C1D5}"/>
              </a:ext>
            </a:extLst>
          </p:cNvPr>
          <p:cNvSpPr/>
          <p:nvPr/>
        </p:nvSpPr>
        <p:spPr>
          <a:xfrm>
            <a:off x="3873500" y="1562100"/>
            <a:ext cx="2063600" cy="43180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1238C6-38C3-BDF1-D624-7C851D1B249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0" y="1625600"/>
            <a:ext cx="1936600" cy="4191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27682F-ACB6-41E7-C6E1-12330168B7A4}"/>
              </a:ext>
            </a:extLst>
          </p:cNvPr>
          <p:cNvSpPr txBox="1"/>
          <p:nvPr/>
        </p:nvSpPr>
        <p:spPr>
          <a:xfrm>
            <a:off x="3784600" y="5943600"/>
            <a:ext cx="2241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Lịch sử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81FDB-81F4-3EB4-D63C-BD79BFD6E689}"/>
              </a:ext>
            </a:extLst>
          </p:cNvPr>
          <p:cNvSpPr txBox="1"/>
          <p:nvPr/>
        </p:nvSpPr>
        <p:spPr>
          <a:xfrm>
            <a:off x="7112000" y="2006600"/>
            <a:ext cx="4191000" cy="17953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Tổng quan: xem tỷ lệ hoàn thành, số việc chưa làm/đang làm/xong.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Lịch sử: kiểm tra các cập nhật đã gửi, thời điểm gửi và nội dung ghi chú.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Nếu không thấy cập nhật mới trong lịch sử, kiểm tra lại thanh chờ cập nhật hoặc trạng thái online/offline.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D72DD8-EE1F-DC1F-CCB1-EDB9B9B914F8}"/>
              </a:ext>
            </a:extLst>
          </p:cNvPr>
          <p:cNvSpPr/>
          <p:nvPr/>
        </p:nvSpPr>
        <p:spPr>
          <a:xfrm>
            <a:off x="7112000" y="4800600"/>
            <a:ext cx="4191000" cy="8636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A21F3B-20A6-3AA6-E1E5-4F3806125ED6}"/>
              </a:ext>
            </a:extLst>
          </p:cNvPr>
          <p:cNvSpPr/>
          <p:nvPr/>
        </p:nvSpPr>
        <p:spPr>
          <a:xfrm>
            <a:off x="7112000" y="4800600"/>
            <a:ext cx="101600" cy="8636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D6EAC9-C450-C53A-7CC9-8FD2083DEE09}"/>
              </a:ext>
            </a:extLst>
          </p:cNvPr>
          <p:cNvSpPr txBox="1"/>
          <p:nvPr/>
        </p:nvSpPr>
        <p:spPr>
          <a:xfrm>
            <a:off x="7366000" y="5029200"/>
            <a:ext cx="3683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Mẹo kiểm tra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472DB-0C2B-9512-0B6D-6EDEB808EA1E}"/>
              </a:ext>
            </a:extLst>
          </p:cNvPr>
          <p:cNvSpPr txBox="1"/>
          <p:nvPr/>
        </p:nvSpPr>
        <p:spPr>
          <a:xfrm>
            <a:off x="7366000" y="5410200"/>
            <a:ext cx="3683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Sau khi bấm Cập nhật, mở Lịch sử để xác nhận dữ liệu đã được ghi nhận.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2F6E25-E623-B0DB-B4CC-1845C0DC541B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617FCB-032C-9B95-9F93-072EB1AFFC63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414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E75BB1-525B-9E06-8723-C5322538DAA2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GIÁM SÁT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37A20-E443-ED62-015B-0329C5F9BFAF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Dashboard mobile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E3E3EC-CF71-9093-3B6D-0898D121AB80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Dùng để nhìn nhanh tình hình trong ca và ưu tiên nhóm cần theo dõi.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0A27F5-08B4-3A3C-B059-2DEA75B99591}"/>
              </a:ext>
            </a:extLst>
          </p:cNvPr>
          <p:cNvSpPr/>
          <p:nvPr/>
        </p:nvSpPr>
        <p:spPr>
          <a:xfrm>
            <a:off x="876300" y="1562100"/>
            <a:ext cx="2134021" cy="4470400"/>
          </a:xfrm>
          <a:prstGeom prst="roundRect">
            <a:avLst/>
          </a:prstGeom>
          <a:solidFill>
            <a:srgbClr val="1C2018"/>
          </a:solidFill>
          <a:ln w="12700" cap="flat" cmpd="sng" algn="ctr">
            <a:solidFill>
              <a:srgbClr val="30342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4D7E99-6858-D549-93AF-18A78B49F9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625600"/>
            <a:ext cx="2007021" cy="434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943F9-910D-143B-07C9-6D9629789147}"/>
              </a:ext>
            </a:extLst>
          </p:cNvPr>
          <p:cNvSpPr txBox="1"/>
          <p:nvPr/>
        </p:nvSpPr>
        <p:spPr>
          <a:xfrm>
            <a:off x="787400" y="6096000"/>
            <a:ext cx="2311821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>
                <a:solidFill>
                  <a:srgbClr val="74746C"/>
                </a:solidFill>
                <a:latin typeface="Aptos" panose="020B0004020202020204" pitchFamily="34" charset="0"/>
              </a:rPr>
              <a:t>Dashboard giám sát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F16FF6-A752-89F6-70B4-02AA2FE891FE}"/>
              </a:ext>
            </a:extLst>
          </p:cNvPr>
          <p:cNvSpPr txBox="1"/>
          <p:nvPr/>
        </p:nvSpPr>
        <p:spPr>
          <a:xfrm>
            <a:off x="3810000" y="1905000"/>
            <a:ext cx="6985000" cy="1513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Đơn vị báo cáo: số đơn vị/nhóm có cập nhật trong ngày.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Đáp ứng kế hoạch: nhóm đạt mốc tiến độ theo ngưỡng.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Cần tăng cường: nhóm có tiến độ thấp hoặc nhiều việc chưa triển khai.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WorkOrder trễ: hạng mục quá Finish date nhưng chưa hoàn thành.</a:t>
            </a:r>
          </a:p>
          <a:p>
            <a:pPr>
              <a:spcAft>
                <a:spcPts val="700"/>
              </a:spcAft>
            </a:pPr>
            <a:r>
              <a:rPr lang="vi-VN" sz="1500">
                <a:solidFill>
                  <a:srgbClr val="74746C"/>
                </a:solidFill>
                <a:latin typeface="Aptos" panose="020B0004020202020204" pitchFamily="34" charset="0"/>
              </a:rPr>
              <a:t>- Tỷ lệ đạt TB: mức hoàn thành trung bình theo phạm vi đang xem.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62D9BC-4B8A-5041-1944-A79DE461667D}"/>
              </a:ext>
            </a:extLst>
          </p:cNvPr>
          <p:cNvSpPr/>
          <p:nvPr/>
        </p:nvSpPr>
        <p:spPr>
          <a:xfrm>
            <a:off x="3810000" y="4826000"/>
            <a:ext cx="6985000" cy="8890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B7FEAA-B42B-F6CD-D71F-066DAD1DB45A}"/>
              </a:ext>
            </a:extLst>
          </p:cNvPr>
          <p:cNvSpPr/>
          <p:nvPr/>
        </p:nvSpPr>
        <p:spPr>
          <a:xfrm>
            <a:off x="3810000" y="4826000"/>
            <a:ext cx="101600" cy="8890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C7D97-C6CB-B942-3659-261069CDF3C3}"/>
              </a:ext>
            </a:extLst>
          </p:cNvPr>
          <p:cNvSpPr txBox="1"/>
          <p:nvPr/>
        </p:nvSpPr>
        <p:spPr>
          <a:xfrm>
            <a:off x="4064000" y="5054600"/>
            <a:ext cx="647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Cách dùng trong ca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7BB16-7308-FB6B-16A8-81E1C431AE84}"/>
              </a:ext>
            </a:extLst>
          </p:cNvPr>
          <p:cNvSpPr txBox="1"/>
          <p:nvPr/>
        </p:nvSpPr>
        <p:spPr>
          <a:xfrm>
            <a:off x="4064000" y="5435600"/>
            <a:ext cx="6477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Mở dashboard sau các mốc cập nhật chính để phát hiện nhóm chưa gửi báo cáo hoặc nhóm có nhiều WO trễ.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04D69-FC16-561E-B578-314879E043CE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15910B-A7AB-FD4A-C829-FE2736DBDB85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85644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986932-06A6-9458-9034-0529AFDD4257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QUY TRÌNH TRONG NGÀY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AA1B4-85B5-AC6F-4D07-41ADE26EC130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Checklist thao tác đề xuất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78EC53-8A67-DA84-EC8E-3AEDA190A241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Dùng checklist này để giảm bỏ sót cập nhật khi ca có nhiều hạng mục.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477168-DA3B-82E0-38B2-D48D6B662B17}"/>
              </a:ext>
            </a:extLst>
          </p:cNvPr>
          <p:cNvSpPr/>
          <p:nvPr/>
        </p:nvSpPr>
        <p:spPr>
          <a:xfrm>
            <a:off x="889000" y="1905000"/>
            <a:ext cx="3175000" cy="2984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1A1CA-B978-FBAB-850B-DEEDF859BF7B}"/>
              </a:ext>
            </a:extLst>
          </p:cNvPr>
          <p:cNvSpPr/>
          <p:nvPr/>
        </p:nvSpPr>
        <p:spPr>
          <a:xfrm>
            <a:off x="889000" y="1905000"/>
            <a:ext cx="101600" cy="29845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9779D-029A-EE78-DC3F-519678A0A182}"/>
              </a:ext>
            </a:extLst>
          </p:cNvPr>
          <p:cNvSpPr txBox="1"/>
          <p:nvPr/>
        </p:nvSpPr>
        <p:spPr>
          <a:xfrm>
            <a:off x="11430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Đầu ca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7A43E-A32A-4A8E-3293-6F8E3352399B}"/>
              </a:ext>
            </a:extLst>
          </p:cNvPr>
          <p:cNvSpPr txBox="1"/>
          <p:nvPr/>
        </p:nvSpPr>
        <p:spPr>
          <a:xfrm>
            <a:off x="1143000" y="2514600"/>
            <a:ext cx="26670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1. Đăng nhập đúng tài khoản.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2. Kiểm tra ngày báo cáo.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3. Lọc Tất cả và rà danh sách được giao.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4. Báo nhóm trưởng nếu thiếu/sai hạng mục.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D6E3F2-F4C9-B23A-9D41-77550B6BC624}"/>
              </a:ext>
            </a:extLst>
          </p:cNvPr>
          <p:cNvSpPr/>
          <p:nvPr/>
        </p:nvSpPr>
        <p:spPr>
          <a:xfrm>
            <a:off x="4521200" y="1905000"/>
            <a:ext cx="3175000" cy="2984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F040A6-859C-D6D8-33D0-68A1CE3955AD}"/>
              </a:ext>
            </a:extLst>
          </p:cNvPr>
          <p:cNvSpPr/>
          <p:nvPr/>
        </p:nvSpPr>
        <p:spPr>
          <a:xfrm>
            <a:off x="4521200" y="1905000"/>
            <a:ext cx="101600" cy="29845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45686-1DDB-8837-B4C9-ED012149617D}"/>
              </a:ext>
            </a:extLst>
          </p:cNvPr>
          <p:cNvSpPr txBox="1"/>
          <p:nvPr/>
        </p:nvSpPr>
        <p:spPr>
          <a:xfrm>
            <a:off x="47752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Trong 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0A480-098C-1535-A886-AA8984512BF2}"/>
              </a:ext>
            </a:extLst>
          </p:cNvPr>
          <p:cNvSpPr txBox="1"/>
          <p:nvPr/>
        </p:nvSpPr>
        <p:spPr>
          <a:xfrm>
            <a:off x="4775200" y="2514600"/>
            <a:ext cx="2667000" cy="10002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1. Tìm đúng tag/WO.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2. Cập nhật % theo thực tế.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3. Ghi chú khi có vướng mắc.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4. Kiểm tra thanh chờ cập nhật trước khi gửi.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7324F4-F61D-5059-94F5-8BFCF347D451}"/>
              </a:ext>
            </a:extLst>
          </p:cNvPr>
          <p:cNvSpPr/>
          <p:nvPr/>
        </p:nvSpPr>
        <p:spPr>
          <a:xfrm>
            <a:off x="8153400" y="1905000"/>
            <a:ext cx="3175000" cy="29845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5A4BD3-E85F-DEE1-BB8F-02A691D55F60}"/>
              </a:ext>
            </a:extLst>
          </p:cNvPr>
          <p:cNvSpPr/>
          <p:nvPr/>
        </p:nvSpPr>
        <p:spPr>
          <a:xfrm>
            <a:off x="8153400" y="1905000"/>
            <a:ext cx="101600" cy="29845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22563-A9AC-FACB-2EA8-7586F2F2CF09}"/>
              </a:ext>
            </a:extLst>
          </p:cNvPr>
          <p:cNvSpPr txBox="1"/>
          <p:nvPr/>
        </p:nvSpPr>
        <p:spPr>
          <a:xfrm>
            <a:off x="8407400" y="2133600"/>
            <a:ext cx="266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Cuối mốc báo cáo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19AF08-8263-AEE7-D1ED-BF88E03402C1}"/>
              </a:ext>
            </a:extLst>
          </p:cNvPr>
          <p:cNvSpPr txBox="1"/>
          <p:nvPr/>
        </p:nvSpPr>
        <p:spPr>
          <a:xfrm>
            <a:off x="8407400" y="2514600"/>
            <a:ext cx="2667000" cy="12003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1. Bấm Cập nhật.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2. Mở Lịch sử kiểm tra.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3. Xử lý các task còn Chưa làm/Đang làm.</a:t>
            </a:r>
          </a:p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4. Báo giám sát nếu offline chưa sync.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6F488-2037-3DFC-E3C3-C36CF030A7D4}"/>
              </a:ext>
            </a:extLst>
          </p:cNvPr>
          <p:cNvSpPr txBox="1"/>
          <p:nvPr/>
        </p:nvSpPr>
        <p:spPr>
          <a:xfrm>
            <a:off x="1676400" y="5461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121411"/>
                </a:solidFill>
                <a:latin typeface="Aptos" panose="020B0004020202020204" pitchFamily="34" charset="0"/>
              </a:rPr>
              <a:t>Nguyên tắc: đúng hạng mục, đúng tình trạng, gửi sau khi đã kiểm tra.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A0361-3844-6130-8A87-2D1E11A413D2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D684A-42DB-6AAB-C1BA-FC36F643AD2C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7052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42E9F-5EFA-207F-EFB1-44B026FD6385}"/>
              </a:ext>
            </a:extLst>
          </p:cNvPr>
          <p:cNvSpPr txBox="1"/>
          <p:nvPr/>
        </p:nvSpPr>
        <p:spPr>
          <a:xfrm>
            <a:off x="685800" y="406400"/>
            <a:ext cx="660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200" b="1">
                <a:solidFill>
                  <a:srgbClr val="64A819"/>
                </a:solidFill>
                <a:latin typeface="Aptos" panose="020B0004020202020204" pitchFamily="34" charset="0"/>
              </a:rPr>
              <a:t>XỬ LÝ SỰ CỐ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AEBD9-43EE-2DDF-0CD2-5A7504407CC7}"/>
              </a:ext>
            </a:extLst>
          </p:cNvPr>
          <p:cNvSpPr txBox="1"/>
          <p:nvPr/>
        </p:nvSpPr>
        <p:spPr>
          <a:xfrm>
            <a:off x="685800" y="736600"/>
            <a:ext cx="774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800" b="1">
                <a:solidFill>
                  <a:srgbClr val="121411"/>
                </a:solidFill>
                <a:latin typeface="Aptos Display" panose="020B0004020202020204" pitchFamily="34" charset="0"/>
              </a:rPr>
              <a:t>Các tình huống thường gặp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C3E9D-ADA4-E863-2F8A-00F5D927B5B7}"/>
              </a:ext>
            </a:extLst>
          </p:cNvPr>
          <p:cNvSpPr txBox="1"/>
          <p:nvPr/>
        </p:nvSpPr>
        <p:spPr>
          <a:xfrm>
            <a:off x="685800" y="1333500"/>
            <a:ext cx="787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Nếu lỗi vẫn lặp lại, chụp màn hình và gửi kèm username, thời điểm, tag/WO liên quan.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9CCE2E-9A7C-0768-82FE-AE1E3B647136}"/>
              </a:ext>
            </a:extLst>
          </p:cNvPr>
          <p:cNvSpPr/>
          <p:nvPr/>
        </p:nvSpPr>
        <p:spPr>
          <a:xfrm>
            <a:off x="889000" y="1879600"/>
            <a:ext cx="4953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64E71-0F9A-FA90-8ACE-0070F06E4DC7}"/>
              </a:ext>
            </a:extLst>
          </p:cNvPr>
          <p:cNvSpPr/>
          <p:nvPr/>
        </p:nvSpPr>
        <p:spPr>
          <a:xfrm>
            <a:off x="889000" y="1879600"/>
            <a:ext cx="101600" cy="10922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5E41D-8CD6-FA78-5AD2-E2102F1B1EC5}"/>
              </a:ext>
            </a:extLst>
          </p:cNvPr>
          <p:cNvSpPr txBox="1"/>
          <p:nvPr/>
        </p:nvSpPr>
        <p:spPr>
          <a:xfrm>
            <a:off x="1143000" y="2108200"/>
            <a:ext cx="444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Không thấy việc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89D3-A5E8-2D7C-F595-67E27D3AB806}"/>
              </a:ext>
            </a:extLst>
          </p:cNvPr>
          <p:cNvSpPr txBox="1"/>
          <p:nvPr/>
        </p:nvSpPr>
        <p:spPr>
          <a:xfrm>
            <a:off x="1143000" y="2489200"/>
            <a:ext cx="444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Xóa từ khóa tìm kiếm, chuyển filter về Tất cả. Nếu vẫn trống, có thể chưa được giao hạng mục hoặc dữ liệu import chưa đúng.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40D900-54B7-FA33-ACF0-321A079D6E48}"/>
              </a:ext>
            </a:extLst>
          </p:cNvPr>
          <p:cNvSpPr/>
          <p:nvPr/>
        </p:nvSpPr>
        <p:spPr>
          <a:xfrm>
            <a:off x="889000" y="3251200"/>
            <a:ext cx="4953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200DE5-81EE-B9BE-5107-9A4575036A26}"/>
              </a:ext>
            </a:extLst>
          </p:cNvPr>
          <p:cNvSpPr/>
          <p:nvPr/>
        </p:nvSpPr>
        <p:spPr>
          <a:xfrm>
            <a:off x="889000" y="3251200"/>
            <a:ext cx="101600" cy="10922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92496-7F90-FF74-FEC1-7231DA344A86}"/>
              </a:ext>
            </a:extLst>
          </p:cNvPr>
          <p:cNvSpPr txBox="1"/>
          <p:nvPr/>
        </p:nvSpPr>
        <p:spPr>
          <a:xfrm>
            <a:off x="1143000" y="3479800"/>
            <a:ext cx="444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Đã chỉnh nhưng dashboard chưa đổi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48CE82-6CBE-84C6-4EA4-6C8524721751}"/>
              </a:ext>
            </a:extLst>
          </p:cNvPr>
          <p:cNvSpPr txBox="1"/>
          <p:nvPr/>
        </p:nvSpPr>
        <p:spPr>
          <a:xfrm>
            <a:off x="1143000" y="3860800"/>
            <a:ext cx="444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Kiểm tra còn thanh chờ cập nhật không. Dashboard chỉ đổi sau khi bấm Cập nhật và dữ liệu ghi thành công.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B225EB-F46A-2D54-1DDD-3BCD5A12F815}"/>
              </a:ext>
            </a:extLst>
          </p:cNvPr>
          <p:cNvSpPr/>
          <p:nvPr/>
        </p:nvSpPr>
        <p:spPr>
          <a:xfrm>
            <a:off x="889000" y="4622800"/>
            <a:ext cx="4953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377EB-83F8-6FCE-06C6-F723318AFD3A}"/>
              </a:ext>
            </a:extLst>
          </p:cNvPr>
          <p:cNvSpPr/>
          <p:nvPr/>
        </p:nvSpPr>
        <p:spPr>
          <a:xfrm>
            <a:off x="889000" y="4622800"/>
            <a:ext cx="101600" cy="1092200"/>
          </a:xfrm>
          <a:prstGeom prst="rect">
            <a:avLst/>
          </a:prstGeom>
          <a:solidFill>
            <a:srgbClr val="4C8F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B6E99-0871-4527-0D14-646AB0C2DDC2}"/>
              </a:ext>
            </a:extLst>
          </p:cNvPr>
          <p:cNvSpPr txBox="1"/>
          <p:nvPr/>
        </p:nvSpPr>
        <p:spPr>
          <a:xfrm>
            <a:off x="1143000" y="4851400"/>
            <a:ext cx="444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Mất mạng / offline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17619E-D8C6-4E54-45B8-BA50C3C7FC1B}"/>
              </a:ext>
            </a:extLst>
          </p:cNvPr>
          <p:cNvSpPr txBox="1"/>
          <p:nvPr/>
        </p:nvSpPr>
        <p:spPr>
          <a:xfrm>
            <a:off x="1143000" y="5232400"/>
            <a:ext cx="4445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Không thao tác nhiều lần liên tục. Chờ online lại rồi kiểm tra Lịch sử hoặc báo giám sát nếu dữ liệu chưa đồng bộ.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B15F83-C017-95DF-5FFC-B77285AB5F64}"/>
              </a:ext>
            </a:extLst>
          </p:cNvPr>
          <p:cNvSpPr/>
          <p:nvPr/>
        </p:nvSpPr>
        <p:spPr>
          <a:xfrm>
            <a:off x="6477000" y="1879600"/>
            <a:ext cx="4699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A97DCA-A580-DEE6-7C21-389E226B032D}"/>
              </a:ext>
            </a:extLst>
          </p:cNvPr>
          <p:cNvSpPr/>
          <p:nvPr/>
        </p:nvSpPr>
        <p:spPr>
          <a:xfrm>
            <a:off x="6477000" y="1879600"/>
            <a:ext cx="101600" cy="1092200"/>
          </a:xfrm>
          <a:prstGeom prst="rect">
            <a:avLst/>
          </a:prstGeom>
          <a:solidFill>
            <a:srgbClr val="E25B3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769A99-1B9C-4E4A-ECBE-E55D49F3E7E4}"/>
              </a:ext>
            </a:extLst>
          </p:cNvPr>
          <p:cNvSpPr txBox="1"/>
          <p:nvPr/>
        </p:nvSpPr>
        <p:spPr>
          <a:xfrm>
            <a:off x="6731000" y="21082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Sai mật khẩu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EFF5AB-0EF7-D21A-0CA7-2A563648E64C}"/>
              </a:ext>
            </a:extLst>
          </p:cNvPr>
          <p:cNvSpPr txBox="1"/>
          <p:nvPr/>
        </p:nvSpPr>
        <p:spPr>
          <a:xfrm>
            <a:off x="6731000" y="2489200"/>
            <a:ext cx="419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Kiểm tra username, dấu cách, kiểu gõ. Mật khẩu mới không được trùng mật khẩu mặc định.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B2683E4-7A1F-8F79-2ADF-F2D994C15E51}"/>
              </a:ext>
            </a:extLst>
          </p:cNvPr>
          <p:cNvSpPr/>
          <p:nvPr/>
        </p:nvSpPr>
        <p:spPr>
          <a:xfrm>
            <a:off x="6477000" y="3251200"/>
            <a:ext cx="4699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C50712-96EF-090B-2047-96C4626A4049}"/>
              </a:ext>
            </a:extLst>
          </p:cNvPr>
          <p:cNvSpPr/>
          <p:nvPr/>
        </p:nvSpPr>
        <p:spPr>
          <a:xfrm>
            <a:off x="6477000" y="3251200"/>
            <a:ext cx="101600" cy="1092200"/>
          </a:xfrm>
          <a:prstGeom prst="rect">
            <a:avLst/>
          </a:prstGeom>
          <a:solidFill>
            <a:srgbClr val="F3A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C416E9-AEB1-F064-0D0E-54A020E138A1}"/>
              </a:ext>
            </a:extLst>
          </p:cNvPr>
          <p:cNvSpPr txBox="1"/>
          <p:nvPr/>
        </p:nvSpPr>
        <p:spPr>
          <a:xfrm>
            <a:off x="6731000" y="34798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Chạm nhầm tiến độ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8FF9D-C428-B43D-4780-430A0AA8736A}"/>
              </a:ext>
            </a:extLst>
          </p:cNvPr>
          <p:cNvSpPr txBox="1"/>
          <p:nvPr/>
        </p:nvSpPr>
        <p:spPr>
          <a:xfrm>
            <a:off x="6731000" y="3860800"/>
            <a:ext cx="419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Bấm Hủy thay đổi trước khi Cập nhật. Nếu đã gửi rồi, cập nhật lại đúng trạng thái và ghi chú lý do.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F5AE52-6970-2D49-A91D-5A7B2A04AEAD}"/>
              </a:ext>
            </a:extLst>
          </p:cNvPr>
          <p:cNvSpPr/>
          <p:nvPr/>
        </p:nvSpPr>
        <p:spPr>
          <a:xfrm>
            <a:off x="6477000" y="4622800"/>
            <a:ext cx="4699000" cy="1092200"/>
          </a:xfrm>
          <a:prstGeom prst="roundRect">
            <a:avLst/>
          </a:prstGeom>
          <a:solidFill>
            <a:srgbClr val="FFFFFC"/>
          </a:solidFill>
          <a:ln w="12700" cap="flat" cmpd="sng" algn="ctr">
            <a:solidFill>
              <a:srgbClr val="E0DDD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691AF0-0313-F98F-78B8-34910E7778DF}"/>
              </a:ext>
            </a:extLst>
          </p:cNvPr>
          <p:cNvSpPr/>
          <p:nvPr/>
        </p:nvSpPr>
        <p:spPr>
          <a:xfrm>
            <a:off x="6477000" y="4622800"/>
            <a:ext cx="101600" cy="1092200"/>
          </a:xfrm>
          <a:prstGeom prst="rect">
            <a:avLst/>
          </a:prstGeom>
          <a:solidFill>
            <a:srgbClr val="AEEA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08133-AA28-5419-630C-AFDF250332E9}"/>
              </a:ext>
            </a:extLst>
          </p:cNvPr>
          <p:cNvSpPr txBox="1"/>
          <p:nvPr/>
        </p:nvSpPr>
        <p:spPr>
          <a:xfrm>
            <a:off x="6731000" y="4851400"/>
            <a:ext cx="419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>
                <a:solidFill>
                  <a:srgbClr val="121411"/>
                </a:solidFill>
                <a:latin typeface="Aptos" panose="020B0004020202020204" pitchFamily="34" charset="0"/>
              </a:rPr>
              <a:t>Cần hỗ trợ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CF7936-8A52-2151-E251-7B9C5D9DD712}"/>
              </a:ext>
            </a:extLst>
          </p:cNvPr>
          <p:cNvSpPr txBox="1"/>
          <p:nvPr/>
        </p:nvSpPr>
        <p:spPr>
          <a:xfrm>
            <a:off x="6731000" y="5232400"/>
            <a:ext cx="419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300">
                <a:solidFill>
                  <a:srgbClr val="74746C"/>
                </a:solidFill>
                <a:latin typeface="Aptos" panose="020B0004020202020204" pitchFamily="34" charset="0"/>
              </a:rPr>
              <a:t>Liên hệ nhóm trưởng hoặc admin dữ liệu. Không tự sửa dữ liệu import nếu không có quyền.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EDE3B-A414-C22E-893C-BF34F768BFE9}"/>
              </a:ext>
            </a:extLst>
          </p:cNvPr>
          <p:cNvSpPr txBox="1"/>
          <p:nvPr/>
        </p:nvSpPr>
        <p:spPr>
          <a:xfrm>
            <a:off x="685800" y="64516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BDTT 2026 - Hướng dẫn sử dụng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0C9EE5-8F62-C163-B2B5-254AB1FB0AFE}"/>
              </a:ext>
            </a:extLst>
          </p:cNvPr>
          <p:cNvSpPr txBox="1"/>
          <p:nvPr/>
        </p:nvSpPr>
        <p:spPr>
          <a:xfrm>
            <a:off x="11176000" y="6451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900">
                <a:solidFill>
                  <a:srgbClr val="74746C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4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1650</Words>
  <Application>Microsoft Office PowerPoint</Application>
  <PresentationFormat>Widescreen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Phung Phuoc Vinh</dc:creator>
  <cp:lastModifiedBy>Lam Phung Phuoc Vinh</cp:lastModifiedBy>
  <cp:revision>2</cp:revision>
  <dcterms:created xsi:type="dcterms:W3CDTF">2026-06-15T13:46:42Z</dcterms:created>
  <dcterms:modified xsi:type="dcterms:W3CDTF">2026-06-16T01:10:47Z</dcterms:modified>
</cp:coreProperties>
</file>